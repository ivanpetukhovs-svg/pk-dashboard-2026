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2" r:id="rId3"/>
    <p:sldId id="261" r:id="rId4"/>
    <p:sldId id="263" r:id="rId5"/>
    <p:sldId id="264" r:id="rId6"/>
    <p:sldId id="265" r:id="rId7"/>
    <p:sldId id="269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1E4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644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7575" y="2045665"/>
            <a:ext cx="9877729" cy="1860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E61E4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E61E4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E61E4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55235" y="1196339"/>
            <a:ext cx="7637145" cy="58419"/>
          </a:xfrm>
          <a:custGeom>
            <a:avLst/>
            <a:gdLst/>
            <a:ahLst/>
            <a:cxnLst/>
            <a:rect l="l" t="t" r="r" b="b"/>
            <a:pathLst>
              <a:path w="7637145" h="58419">
                <a:moveTo>
                  <a:pt x="7636763" y="0"/>
                </a:moveTo>
                <a:lnTo>
                  <a:pt x="0" y="0"/>
                </a:lnTo>
                <a:lnTo>
                  <a:pt x="0" y="57911"/>
                </a:lnTo>
                <a:lnTo>
                  <a:pt x="7636763" y="57911"/>
                </a:lnTo>
                <a:lnTo>
                  <a:pt x="7636763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344" y="0"/>
            <a:ext cx="3006852" cy="202539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6208776"/>
            <a:ext cx="5274310" cy="58419"/>
          </a:xfrm>
          <a:custGeom>
            <a:avLst/>
            <a:gdLst/>
            <a:ahLst/>
            <a:cxnLst/>
            <a:rect l="l" t="t" r="r" b="b"/>
            <a:pathLst>
              <a:path w="5274310" h="58420">
                <a:moveTo>
                  <a:pt x="5274183" y="0"/>
                </a:moveTo>
                <a:lnTo>
                  <a:pt x="0" y="0"/>
                </a:lnTo>
                <a:lnTo>
                  <a:pt x="0" y="57912"/>
                </a:lnTo>
                <a:lnTo>
                  <a:pt x="5274183" y="57912"/>
                </a:lnTo>
                <a:lnTo>
                  <a:pt x="5274183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4203" y="6022570"/>
            <a:ext cx="5482930" cy="37407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E61E4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17539" y="592432"/>
            <a:ext cx="1326744" cy="37045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268211"/>
            <a:ext cx="9554845" cy="38100"/>
          </a:xfrm>
          <a:custGeom>
            <a:avLst/>
            <a:gdLst/>
            <a:ahLst/>
            <a:cxnLst/>
            <a:rect l="l" t="t" r="r" b="b"/>
            <a:pathLst>
              <a:path w="9554845" h="38100">
                <a:moveTo>
                  <a:pt x="9554845" y="0"/>
                </a:moveTo>
                <a:lnTo>
                  <a:pt x="0" y="0"/>
                </a:lnTo>
                <a:lnTo>
                  <a:pt x="0" y="38100"/>
                </a:lnTo>
                <a:lnTo>
                  <a:pt x="9554845" y="38100"/>
                </a:lnTo>
                <a:lnTo>
                  <a:pt x="9554845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261854" y="1075944"/>
            <a:ext cx="1930400" cy="38100"/>
          </a:xfrm>
          <a:custGeom>
            <a:avLst/>
            <a:gdLst/>
            <a:ahLst/>
            <a:cxnLst/>
            <a:rect l="l" t="t" r="r" b="b"/>
            <a:pathLst>
              <a:path w="1930400" h="38100">
                <a:moveTo>
                  <a:pt x="1930146" y="0"/>
                </a:moveTo>
                <a:lnTo>
                  <a:pt x="0" y="0"/>
                </a:lnTo>
                <a:lnTo>
                  <a:pt x="0" y="38100"/>
                </a:lnTo>
                <a:lnTo>
                  <a:pt x="1930146" y="38100"/>
                </a:lnTo>
                <a:lnTo>
                  <a:pt x="1930146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268211"/>
            <a:ext cx="9554845" cy="38100"/>
          </a:xfrm>
          <a:custGeom>
            <a:avLst/>
            <a:gdLst/>
            <a:ahLst/>
            <a:cxnLst/>
            <a:rect l="l" t="t" r="r" b="b"/>
            <a:pathLst>
              <a:path w="9554845" h="38100">
                <a:moveTo>
                  <a:pt x="9554845" y="0"/>
                </a:moveTo>
                <a:lnTo>
                  <a:pt x="0" y="0"/>
                </a:lnTo>
                <a:lnTo>
                  <a:pt x="0" y="38100"/>
                </a:lnTo>
                <a:lnTo>
                  <a:pt x="9554845" y="38100"/>
                </a:lnTo>
                <a:lnTo>
                  <a:pt x="9554845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61854" y="1075944"/>
            <a:ext cx="1930400" cy="38100"/>
          </a:xfrm>
          <a:custGeom>
            <a:avLst/>
            <a:gdLst/>
            <a:ahLst/>
            <a:cxnLst/>
            <a:rect l="l" t="t" r="r" b="b"/>
            <a:pathLst>
              <a:path w="1930400" h="38100">
                <a:moveTo>
                  <a:pt x="1930146" y="0"/>
                </a:moveTo>
                <a:lnTo>
                  <a:pt x="0" y="0"/>
                </a:lnTo>
                <a:lnTo>
                  <a:pt x="0" y="38100"/>
                </a:lnTo>
                <a:lnTo>
                  <a:pt x="1930146" y="38100"/>
                </a:lnTo>
                <a:lnTo>
                  <a:pt x="1930146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09194"/>
            <a:ext cx="8828405" cy="953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E61E46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9762" y="1989924"/>
            <a:ext cx="5775325" cy="304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mospolytech.ru/postupayushchim/priem-v-universitet/zayavka-na-postuplenie/?utm_source=mospolytech&amp;utm_medium=slider&amp;utm_campaign=zayavka-na-postupleni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55235" y="1196339"/>
            <a:ext cx="7637145" cy="58419"/>
          </a:xfrm>
          <a:custGeom>
            <a:avLst/>
            <a:gdLst/>
            <a:ahLst/>
            <a:cxnLst/>
            <a:rect l="l" t="t" r="r" b="b"/>
            <a:pathLst>
              <a:path w="7637145" h="58419">
                <a:moveTo>
                  <a:pt x="7636763" y="0"/>
                </a:moveTo>
                <a:lnTo>
                  <a:pt x="0" y="0"/>
                </a:lnTo>
                <a:lnTo>
                  <a:pt x="0" y="57911"/>
                </a:lnTo>
                <a:lnTo>
                  <a:pt x="7636763" y="57911"/>
                </a:lnTo>
                <a:lnTo>
                  <a:pt x="7636763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7344" y="0"/>
            <a:ext cx="3006852" cy="202539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6208776"/>
            <a:ext cx="5274310" cy="58419"/>
          </a:xfrm>
          <a:custGeom>
            <a:avLst/>
            <a:gdLst/>
            <a:ahLst/>
            <a:cxnLst/>
            <a:rect l="l" t="t" r="r" b="b"/>
            <a:pathLst>
              <a:path w="5274310" h="58420">
                <a:moveTo>
                  <a:pt x="5274183" y="0"/>
                </a:moveTo>
                <a:lnTo>
                  <a:pt x="0" y="0"/>
                </a:lnTo>
                <a:lnTo>
                  <a:pt x="0" y="57912"/>
                </a:lnTo>
                <a:lnTo>
                  <a:pt x="5274183" y="57912"/>
                </a:lnTo>
                <a:lnTo>
                  <a:pt x="5274183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4203" y="6022570"/>
            <a:ext cx="5482930" cy="3740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817575" y="2045665"/>
            <a:ext cx="9877729" cy="310020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" marR="5080">
              <a:lnSpc>
                <a:spcPts val="4650"/>
              </a:lnSpc>
              <a:spcBef>
                <a:spcPts val="675"/>
              </a:spcBef>
            </a:pPr>
            <a:r>
              <a:rPr lang="ru-RU" sz="4300" dirty="0" smtClean="0"/>
              <a:t>Программа лояльности </a:t>
            </a:r>
            <a:r>
              <a:rPr sz="4300" spc="-25" dirty="0" err="1" smtClean="0"/>
              <a:t>для</a:t>
            </a:r>
            <a:r>
              <a:rPr sz="4300" spc="-25" dirty="0" smtClean="0"/>
              <a:t> </a:t>
            </a:r>
            <a:r>
              <a:rPr sz="4300" dirty="0"/>
              <a:t>поступающих</a:t>
            </a:r>
            <a:r>
              <a:rPr sz="4300" spc="-60" dirty="0"/>
              <a:t> </a:t>
            </a:r>
            <a:r>
              <a:rPr sz="4300" dirty="0" err="1"/>
              <a:t>на</a:t>
            </a:r>
            <a:r>
              <a:rPr sz="4300" dirty="0"/>
              <a:t> </a:t>
            </a:r>
            <a:r>
              <a:rPr sz="4300" dirty="0" err="1" smtClean="0"/>
              <a:t>платную</a:t>
            </a:r>
            <a:r>
              <a:rPr lang="ru-RU" sz="4300" dirty="0" smtClean="0"/>
              <a:t> договорную основу обучения</a:t>
            </a:r>
            <a:r>
              <a:rPr sz="4300" spc="-50" dirty="0" smtClean="0"/>
              <a:t> </a:t>
            </a:r>
            <a:r>
              <a:rPr lang="ru-RU" sz="4300" spc="-50" smtClean="0"/>
              <a:t>в </a:t>
            </a:r>
            <a:r>
              <a:rPr sz="4300" spc="-10" smtClean="0"/>
              <a:t>202</a:t>
            </a:r>
            <a:r>
              <a:rPr lang="ru-RU" sz="4300" spc="-10" dirty="0" smtClean="0"/>
              <a:t>6</a:t>
            </a:r>
            <a:r>
              <a:rPr sz="4300" spc="-10" dirty="0" smtClean="0"/>
              <a:t>/202</a:t>
            </a:r>
            <a:r>
              <a:rPr lang="ru-RU" sz="4300" spc="-10" dirty="0" smtClean="0"/>
              <a:t>7 учебный год</a:t>
            </a:r>
            <a:br>
              <a:rPr lang="ru-RU" sz="4300" spc="-10" dirty="0" smtClean="0"/>
            </a:br>
            <a:endParaRPr sz="4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10800" y="5334000"/>
            <a:ext cx="7035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600" spc="-50" dirty="0" smtClean="0">
                <a:solidFill>
                  <a:srgbClr val="D0CECE"/>
                </a:solidFill>
                <a:latin typeface="Microsoft Sans Serif"/>
                <a:cs typeface="Microsoft Sans Serif"/>
              </a:rPr>
              <a:t>4</a:t>
            </a:r>
            <a:endParaRPr sz="9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117" y="859339"/>
            <a:ext cx="9296400" cy="727506"/>
          </a:xfrm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dirty="0" smtClean="0"/>
              <a:t>1</a:t>
            </a:r>
            <a:r>
              <a:rPr dirty="0" smtClean="0"/>
              <a:t>.</a:t>
            </a:r>
            <a:r>
              <a:rPr spc="-200" dirty="0" smtClean="0"/>
              <a:t> </a:t>
            </a:r>
            <a:r>
              <a:rPr dirty="0" err="1"/>
              <a:t>Стимулирование</a:t>
            </a:r>
            <a:r>
              <a:rPr spc="-135" dirty="0"/>
              <a:t> </a:t>
            </a:r>
            <a:r>
              <a:rPr spc="-10" dirty="0" err="1" smtClean="0"/>
              <a:t>предзаказов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85800" y="1676400"/>
            <a:ext cx="749998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Цель:</a:t>
            </a:r>
            <a:r>
              <a:rPr sz="1500" b="1" spc="-8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увеличение</a:t>
            </a:r>
            <a:r>
              <a:rPr sz="1500" b="1" spc="-4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количества</a:t>
            </a:r>
            <a:r>
              <a:rPr sz="1500" b="1" spc="-6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поступающих</a:t>
            </a:r>
            <a:r>
              <a:rPr sz="15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на</a:t>
            </a:r>
            <a:r>
              <a:rPr sz="1500" b="1" spc="-7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платные</a:t>
            </a:r>
            <a:r>
              <a:rPr sz="1500" b="1" spc="-8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формы</a:t>
            </a:r>
            <a:r>
              <a:rPr sz="1500" b="1" spc="-5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обучения</a:t>
            </a:r>
            <a:r>
              <a:rPr sz="1500" b="1" spc="-4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171616"/>
                </a:solidFill>
                <a:latin typeface="Arial"/>
                <a:cs typeface="Arial"/>
              </a:rPr>
              <a:t>на </a:t>
            </a:r>
            <a:r>
              <a:rPr sz="1500" b="1" spc="-10" dirty="0" err="1">
                <a:solidFill>
                  <a:srgbClr val="171616"/>
                </a:solidFill>
                <a:latin typeface="Arial"/>
                <a:cs typeface="Arial"/>
              </a:rPr>
              <a:t>программах</a:t>
            </a:r>
            <a:r>
              <a:rPr sz="1500" b="1" spc="-5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ВО</a:t>
            </a: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/>
            </a:r>
            <a:b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</a:b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>Подать заявку можно по 19 июня 2026 включительно</a:t>
            </a:r>
            <a:endParaRPr sz="1500"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285535"/>
              </p:ext>
            </p:extLst>
          </p:nvPr>
        </p:nvGraphicFramePr>
        <p:xfrm>
          <a:off x="762000" y="2438400"/>
          <a:ext cx="9020964" cy="2754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58763"/>
                <a:gridCol w="2362201"/>
              </a:tblGrid>
              <a:tr h="285750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Динамическая</a:t>
                      </a:r>
                      <a:r>
                        <a:rPr lang="ru-RU" sz="1400" b="1" spc="-10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1400" b="1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система</a:t>
                      </a:r>
                      <a:r>
                        <a:rPr lang="ru-RU" sz="1400" b="1" spc="-7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1400" b="1" spc="-1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стимулирования</a:t>
                      </a:r>
                      <a:endParaRPr lang="ru-RU" sz="1400" dirty="0" smtClean="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ru-RU" sz="1400" b="1" dirty="0" smtClean="0">
                          <a:latin typeface="Arial"/>
                          <a:cs typeface="Arial"/>
                        </a:rPr>
                        <a:t>Скидка, %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4530">
                <a:tc>
                  <a:txBody>
                    <a:bodyPr/>
                    <a:lstStyle/>
                    <a:p>
                      <a:pPr marL="68580">
                        <a:lnSpc>
                          <a:spcPts val="1630"/>
                        </a:lnSpc>
                      </a:pP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Подача заявки на </a:t>
                      </a:r>
                      <a:r>
                        <a:rPr lang="ru-RU" sz="1400" b="0" dirty="0" err="1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предзаказ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, 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оформление договора и внесения минимального платежа за обучение до 04.07.2026 (включительно).</a:t>
                      </a:r>
                      <a:endParaRPr sz="1400" b="0" dirty="0">
                        <a:solidFill>
                          <a:srgbClr val="171616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ru-RU" sz="2400" b="1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20</a:t>
                      </a:r>
                      <a:endParaRPr sz="2400" b="1" dirty="0">
                        <a:solidFill>
                          <a:srgbClr val="171616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195">
                <a:tc>
                  <a:txBody>
                    <a:bodyPr/>
                    <a:lstStyle/>
                    <a:p>
                      <a:pPr marL="68580" marR="60706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Оформление договора и внесения минимального платежа за обучение </a:t>
                      </a:r>
                      <a:r>
                        <a:rPr sz="1400" b="0" dirty="0" err="1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до</a:t>
                      </a:r>
                      <a:r>
                        <a:rPr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25.07.202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6</a:t>
                      </a:r>
                      <a:r>
                        <a:rPr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(</a:t>
                      </a:r>
                      <a:r>
                        <a:rPr sz="1400" b="0" dirty="0" err="1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включительно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)</a:t>
                      </a:r>
                      <a:endParaRPr sz="1400" b="0" dirty="0">
                        <a:solidFill>
                          <a:srgbClr val="171616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666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60706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lang="ru-RU" sz="2400" b="1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     15</a:t>
                      </a:r>
                      <a:endParaRPr sz="2400" b="1" dirty="0">
                        <a:solidFill>
                          <a:srgbClr val="171616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666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marL="68580" marR="64135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Оформление договора и внесения минимального платежа за обучение</a:t>
                      </a:r>
                      <a:r>
                        <a:rPr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до</a:t>
                      </a:r>
                      <a:r>
                        <a:rPr sz="1400" b="0" dirty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05.08.202</a:t>
                      </a:r>
                      <a:r>
                        <a:rPr lang="ru-RU"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6</a:t>
                      </a:r>
                      <a:r>
                        <a:rPr sz="1400" b="0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</a:t>
                      </a:r>
                      <a:r>
                        <a:rPr sz="1400" b="0" dirty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включительно</a:t>
                      </a:r>
                    </a:p>
                  </a:txBody>
                  <a:tcPr marL="0" marR="0" marT="180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8580" marR="64135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lang="ru-RU" sz="2400" b="1" dirty="0" smtClean="0">
                          <a:solidFill>
                            <a:srgbClr val="171616"/>
                          </a:solidFill>
                          <a:latin typeface="Arial"/>
                          <a:ea typeface="+mn-ea"/>
                          <a:cs typeface="Arial"/>
                        </a:rPr>
                        <a:t>       10</a:t>
                      </a:r>
                      <a:endParaRPr sz="2400" b="1" dirty="0">
                        <a:solidFill>
                          <a:srgbClr val="171616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180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object 4"/>
          <p:cNvSpPr txBox="1">
            <a:spLocks/>
          </p:cNvSpPr>
          <p:nvPr/>
        </p:nvSpPr>
        <p:spPr>
          <a:xfrm>
            <a:off x="304800" y="0"/>
            <a:ext cx="10134600" cy="727506"/>
          </a:xfrm>
          <a:prstGeom prst="rect">
            <a:avLst/>
          </a:prstGeom>
        </p:spPr>
        <p:txBody>
          <a:bodyPr vert="horz" wrap="square" lIns="0" tIns="232790" rIns="0" bIns="0" rtlCol="0">
            <a:spAutoFit/>
          </a:bodyPr>
          <a:lstStyle>
            <a:lvl1pPr>
              <a:defRPr sz="3200" b="0" i="0">
                <a:solidFill>
                  <a:srgbClr val="E61E46"/>
                </a:solidFill>
                <a:latin typeface="Courier New"/>
                <a:ea typeface="+mj-ea"/>
                <a:cs typeface="Courier New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ru-RU" b="1" dirty="0" smtClean="0"/>
              <a:t>Программа лояльности на 2026 учебный год</a:t>
            </a:r>
            <a:endParaRPr lang="ru-RU" b="1" spc="-1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6440961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Запуск программы лояльности с 01.02.2026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87404" y="5270009"/>
            <a:ext cx="102589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hlinkClick r:id="rId2"/>
              </a:rPr>
              <a:t>https://mospolytech.ru/postupayushchim/priem-v-universitet/zayavka-na-postuplenie/?utm_source=mospolytech&amp;utm_medium=slider&amp;utm_campaign=zayavka-na-postuplenie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5410200"/>
            <a:ext cx="7960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* </a:t>
            </a:r>
            <a:r>
              <a:rPr lang="ru-RU" dirty="0" smtClean="0"/>
              <a:t>Условия предоставления скидки в 2024 году – Балл ЕГЭ 80+</a:t>
            </a:r>
          </a:p>
          <a:p>
            <a:endParaRPr lang="ru-RU" dirty="0" smtClean="0"/>
          </a:p>
          <a:p>
            <a:endParaRPr lang="ru-RU" dirty="0"/>
          </a:p>
          <a:p>
            <a:r>
              <a:rPr lang="ru-RU" dirty="0" smtClean="0"/>
              <a:t>Принятые </a:t>
            </a:r>
            <a:r>
              <a:rPr lang="ru-RU" dirty="0"/>
              <a:t>за основу дорожные карты по </a:t>
            </a:r>
            <a:r>
              <a:rPr lang="ru-RU" dirty="0" smtClean="0"/>
              <a:t>достижению</a:t>
            </a:r>
          </a:p>
          <a:p>
            <a:r>
              <a:rPr lang="ru-RU" dirty="0" smtClean="0"/>
              <a:t>целевых </a:t>
            </a:r>
            <a:r>
              <a:rPr lang="ru-RU" dirty="0"/>
              <a:t>метрик 2030 </a:t>
            </a:r>
            <a:r>
              <a:rPr lang="ru-RU" dirty="0" smtClean="0"/>
              <a:t>год - средний балл ЕГЭ 85 (УС </a:t>
            </a:r>
            <a:r>
              <a:rPr lang="ru-RU" dirty="0"/>
              <a:t>№ 7 от </a:t>
            </a:r>
            <a:r>
              <a:rPr lang="ru-RU" dirty="0" smtClean="0"/>
              <a:t>21.08.2025)</a:t>
            </a:r>
            <a:endParaRPr lang="ru-RU" dirty="0"/>
          </a:p>
        </p:txBody>
      </p:sp>
      <p:sp>
        <p:nvSpPr>
          <p:cNvPr id="2" name="object 2"/>
          <p:cNvSpPr/>
          <p:nvPr/>
        </p:nvSpPr>
        <p:spPr>
          <a:xfrm>
            <a:off x="761" y="7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3175">
            <a:solidFill>
              <a:srgbClr val="FA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09021" y="5304231"/>
            <a:ext cx="70358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600" spc="-50" dirty="0" smtClean="0">
                <a:solidFill>
                  <a:srgbClr val="D0CECE"/>
                </a:solidFill>
                <a:latin typeface="Microsoft Sans Serif"/>
                <a:cs typeface="Microsoft Sans Serif"/>
              </a:rPr>
              <a:t>5</a:t>
            </a:r>
            <a:endParaRPr sz="9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309194"/>
            <a:ext cx="8828405" cy="96629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lang="ru-RU" dirty="0" smtClean="0"/>
              <a:t>2</a:t>
            </a:r>
            <a:r>
              <a:rPr dirty="0" smtClean="0"/>
              <a:t>.</a:t>
            </a:r>
            <a:r>
              <a:rPr spc="-240" dirty="0" smtClean="0"/>
              <a:t> </a:t>
            </a:r>
            <a:r>
              <a:rPr dirty="0"/>
              <a:t>Стимулирование</a:t>
            </a:r>
            <a:r>
              <a:rPr spc="-180" dirty="0"/>
              <a:t> </a:t>
            </a:r>
            <a:r>
              <a:rPr dirty="0"/>
              <a:t>высокобалльников</a:t>
            </a:r>
            <a:r>
              <a:rPr spc="-180" dirty="0"/>
              <a:t> </a:t>
            </a:r>
            <a:r>
              <a:rPr spc="-50" dirty="0"/>
              <a:t>и </a:t>
            </a:r>
            <a:r>
              <a:rPr dirty="0"/>
              <a:t>талантливых</a:t>
            </a:r>
            <a:r>
              <a:rPr spc="-215" dirty="0"/>
              <a:t> </a:t>
            </a:r>
            <a:r>
              <a:rPr spc="-10" dirty="0"/>
              <a:t>абитуриентов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8255" y="1447800"/>
            <a:ext cx="94970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Цель:</a:t>
            </a:r>
            <a:r>
              <a:rPr sz="1500" b="1" spc="-7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увеличение</a:t>
            </a:r>
            <a:r>
              <a:rPr sz="1500" b="1" spc="-2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количества</a:t>
            </a:r>
            <a:r>
              <a:rPr sz="1500" b="1" spc="-5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поступающих,</a:t>
            </a:r>
            <a:r>
              <a:rPr sz="1500" b="1" spc="-3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мотивированных</a:t>
            </a:r>
            <a:r>
              <a:rPr sz="1500" b="1" spc="-1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к</a:t>
            </a:r>
            <a:r>
              <a:rPr sz="1500" b="1" spc="-7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учебе,</a:t>
            </a:r>
            <a:r>
              <a:rPr sz="1500" b="1" spc="-2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увеличение</a:t>
            </a:r>
            <a:r>
              <a:rPr sz="1500" b="1" spc="-2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среднего</a:t>
            </a:r>
            <a:r>
              <a:rPr sz="1500" b="1" spc="-8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 err="1">
                <a:solidFill>
                  <a:srgbClr val="171616"/>
                </a:solidFill>
                <a:latin typeface="Arial"/>
                <a:cs typeface="Arial"/>
              </a:rPr>
              <a:t>балла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ЕГЭ</a:t>
            </a:r>
            <a:endParaRPr sz="1400" dirty="0">
              <a:latin typeface="Microsoft Sans Serif"/>
              <a:cs typeface="Microsoft Sans Serif"/>
            </a:endParaRP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504018"/>
              </p:ext>
            </p:extLst>
          </p:nvPr>
        </p:nvGraphicFramePr>
        <p:xfrm>
          <a:off x="778255" y="2438400"/>
          <a:ext cx="8128000" cy="27305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Динамическая</a:t>
                      </a:r>
                      <a:r>
                        <a:rPr lang="ru-RU" sz="1400" b="1" spc="-10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1400" b="1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система</a:t>
                      </a:r>
                      <a:r>
                        <a:rPr lang="ru-RU" sz="1400" b="1" spc="-7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ru-RU" sz="1400" b="1" spc="-10" dirty="0" smtClean="0">
                          <a:solidFill>
                            <a:srgbClr val="171616"/>
                          </a:solidFill>
                          <a:latin typeface="Arial"/>
                          <a:cs typeface="Arial"/>
                        </a:rPr>
                        <a:t>стимулирования</a:t>
                      </a:r>
                      <a:endParaRPr lang="ru-RU" sz="1400" dirty="0" smtClean="0"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lang="ru-RU" sz="1400" b="1" dirty="0" smtClean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Скидка, %</a:t>
                      </a:r>
                      <a:endParaRPr sz="1400" b="1" dirty="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lang="ru-RU" sz="2000" u="sng" dirty="0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Балл</a:t>
                      </a:r>
                      <a:r>
                        <a:rPr lang="ru-RU" sz="2000" u="sng" spc="-20" dirty="0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2000" u="sng" dirty="0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ЕГЭ:</a:t>
                      </a:r>
                      <a:r>
                        <a:rPr lang="ru-RU" sz="2000" u="sng" spc="5" dirty="0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20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85</a:t>
                      </a:r>
                      <a:r>
                        <a:rPr lang="ru-RU" sz="2000" b="1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*</a:t>
                      </a:r>
                      <a:r>
                        <a:rPr lang="ru-RU" sz="2000" spc="-2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+</a:t>
                      </a:r>
                      <a:endParaRPr lang="ru-RU" sz="2000" dirty="0" smtClean="0">
                        <a:latin typeface="Microsoft Sans Serif"/>
                        <a:cs typeface="Microsoft Sans Serif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Подавшие</a:t>
                      </a:r>
                      <a:r>
                        <a:rPr lang="ru-RU" sz="1200" spc="-2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согласие</a:t>
                      </a:r>
                      <a:r>
                        <a:rPr lang="ru-RU" sz="1200" spc="-2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на</a:t>
                      </a:r>
                      <a:r>
                        <a:rPr lang="ru-RU" sz="1200" spc="-4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бюджетную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форму</a:t>
                      </a:r>
                      <a:r>
                        <a:rPr lang="ru-RU" sz="1200" spc="-2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обучения</a:t>
                      </a:r>
                      <a:endParaRPr lang="ru-RU" sz="1200" dirty="0" smtClean="0">
                        <a:latin typeface="Microsoft Sans Serif"/>
                        <a:cs typeface="Microsoft Sans Serif"/>
                      </a:endParaRP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smtClean="0"/>
                        <a:t>20</a:t>
                      </a:r>
                      <a:endParaRPr lang="ru-RU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lang="ru-RU" sz="2000" u="sng" dirty="0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ea typeface="+mn-ea"/>
                          <a:cs typeface="Microsoft Sans Serif"/>
                        </a:rPr>
                        <a:t>За индивидуальные достижения</a:t>
                      </a:r>
                    </a:p>
                    <a:p>
                      <a:pPr algn="ctr">
                        <a:lnSpc>
                          <a:spcPts val="1630"/>
                        </a:lnSpc>
                      </a:pP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(в</a:t>
                      </a:r>
                      <a:r>
                        <a:rPr lang="ru-RU" sz="1200" spc="-1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том</a:t>
                      </a:r>
                      <a:r>
                        <a:rPr lang="ru-RU" sz="1200" spc="-3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числе</a:t>
                      </a:r>
                      <a:r>
                        <a:rPr lang="ru-RU" sz="1200" spc="-2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за </a:t>
                      </a:r>
                      <a:r>
                        <a:rPr lang="ru-RU" sz="1200" spc="-1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аттестат</a:t>
                      </a:r>
                      <a:r>
                        <a:rPr lang="ru-RU" sz="1200" spc="-3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lang="ru-RU" sz="1200" spc="2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отличием,</a:t>
                      </a:r>
                      <a:r>
                        <a:rPr lang="ru-RU" sz="1200" spc="5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2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золотая/серебряная </a:t>
                      </a:r>
                      <a:r>
                        <a:rPr lang="ru-RU" sz="1200" spc="-10" dirty="0" smtClean="0">
                          <a:solidFill>
                            <a:srgbClr val="171616"/>
                          </a:solidFill>
                          <a:latin typeface="Microsoft Sans Serif"/>
                          <a:cs typeface="Microsoft Sans Serif"/>
                        </a:rPr>
                        <a:t>медали)</a:t>
                      </a:r>
                      <a:endParaRPr lang="ru-RU" sz="1200" dirty="0" smtClean="0">
                        <a:latin typeface="Microsoft Sans Serif"/>
                        <a:cs typeface="Microsoft Sans Serif"/>
                      </a:endParaRPr>
                    </a:p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smtClean="0"/>
                        <a:t>От 1 до 10</a:t>
                      </a:r>
                      <a:endParaRPr lang="ru-RU" sz="28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>
                        <a:lnSpc>
                          <a:spcPts val="1630"/>
                        </a:lnSpc>
                        <a:spcBef>
                          <a:spcPts val="844"/>
                        </a:spcBef>
                      </a:pPr>
                      <a:r>
                        <a:rPr lang="ru-RU" sz="2000" u="sng" smtClean="0">
                          <a:solidFill>
                            <a:srgbClr val="171616"/>
                          </a:solidFill>
                          <a:uFill>
                            <a:solidFill>
                              <a:srgbClr val="171616"/>
                            </a:solidFill>
                          </a:uFill>
                          <a:latin typeface="Microsoft Sans Serif"/>
                          <a:ea typeface="+mn-ea"/>
                          <a:cs typeface="Microsoft Sans Serif"/>
                        </a:rPr>
                        <a:t>Не добравшие до бюджета 1-5 баллов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 smtClean="0"/>
                        <a:t>10</a:t>
                      </a:r>
                      <a:endParaRPr lang="ru-RU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17539" y="592432"/>
            <a:ext cx="1326744" cy="37045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261854" y="1075943"/>
            <a:ext cx="1930400" cy="38100"/>
          </a:xfrm>
          <a:custGeom>
            <a:avLst/>
            <a:gdLst/>
            <a:ahLst/>
            <a:cxnLst/>
            <a:rect l="l" t="t" r="r" b="b"/>
            <a:pathLst>
              <a:path w="1930400" h="38100">
                <a:moveTo>
                  <a:pt x="1930146" y="0"/>
                </a:moveTo>
                <a:lnTo>
                  <a:pt x="0" y="0"/>
                </a:lnTo>
                <a:lnTo>
                  <a:pt x="0" y="38100"/>
                </a:lnTo>
                <a:lnTo>
                  <a:pt x="1930146" y="38100"/>
                </a:lnTo>
                <a:lnTo>
                  <a:pt x="1930146" y="0"/>
                </a:lnTo>
                <a:close/>
              </a:path>
            </a:pathLst>
          </a:custGeom>
          <a:solidFill>
            <a:srgbClr val="E61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232430" y="5395008"/>
            <a:ext cx="7035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600" spc="-50" dirty="0" smtClean="0">
                <a:solidFill>
                  <a:srgbClr val="D0CECE"/>
                </a:solidFill>
                <a:latin typeface="Microsoft Sans Serif"/>
                <a:cs typeface="Microsoft Sans Serif"/>
              </a:rPr>
              <a:t>6</a:t>
            </a:r>
            <a:endParaRPr sz="96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0778" y="541401"/>
            <a:ext cx="61347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3</a:t>
            </a:r>
            <a:r>
              <a:rPr/>
              <a:t>.</a:t>
            </a:r>
            <a:r>
              <a:rPr spc="-35"/>
              <a:t> </a:t>
            </a:r>
            <a:r>
              <a:rPr spc="-35" smtClean="0"/>
              <a:t>Комьюнити-</a:t>
            </a:r>
            <a:r>
              <a:rPr smtClean="0"/>
              <a:t>скидки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808431" y="1232766"/>
            <a:ext cx="866013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71616"/>
                </a:solidFill>
                <a:latin typeface="Arial"/>
                <a:cs typeface="Arial"/>
              </a:rPr>
              <a:t>Цель:</a:t>
            </a:r>
            <a:r>
              <a:rPr sz="1400" b="1" spc="-6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71616"/>
                </a:solidFill>
                <a:latin typeface="Arial"/>
                <a:cs typeface="Arial"/>
              </a:rPr>
              <a:t>стимулирование</a:t>
            </a:r>
            <a:r>
              <a:rPr sz="1400" b="1" spc="-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616"/>
                </a:solidFill>
                <a:latin typeface="Arial"/>
                <a:cs typeface="Arial"/>
              </a:rPr>
              <a:t>к</a:t>
            </a:r>
            <a:r>
              <a:rPr sz="1400" b="1" spc="-6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err="1">
                <a:solidFill>
                  <a:srgbClr val="171616"/>
                </a:solidFill>
                <a:latin typeface="Arial"/>
                <a:cs typeface="Arial"/>
              </a:rPr>
              <a:t>покупке</a:t>
            </a:r>
            <a:r>
              <a:rPr sz="14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rgbClr val="171616"/>
                </a:solidFill>
                <a:latin typeface="Arial"/>
                <a:cs typeface="Arial"/>
              </a:rPr>
              <a:t>программ</a:t>
            </a:r>
            <a:r>
              <a:rPr sz="1400" b="1" spc="-70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smtClean="0">
                <a:solidFill>
                  <a:srgbClr val="171616"/>
                </a:solidFill>
                <a:latin typeface="Arial"/>
                <a:cs typeface="Arial"/>
              </a:rPr>
              <a:t>ВО</a:t>
            </a:r>
            <a:r>
              <a:rPr sz="1400" b="1" spc="-45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rgbClr val="171616"/>
                </a:solidFill>
                <a:latin typeface="Arial"/>
                <a:cs typeface="Arial"/>
              </a:rPr>
              <a:t>групп</a:t>
            </a:r>
            <a:r>
              <a:rPr sz="1400" b="1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rgbClr val="171616"/>
                </a:solidFill>
                <a:latin typeface="Arial"/>
                <a:cs typeface="Arial"/>
              </a:rPr>
              <a:t>абитуриентов</a:t>
            </a:r>
            <a:r>
              <a:rPr sz="1400" b="1" dirty="0" smtClean="0">
                <a:solidFill>
                  <a:srgbClr val="171616"/>
                </a:solidFill>
                <a:latin typeface="Arial"/>
                <a:cs typeface="Arial"/>
              </a:rPr>
              <a:t>,</a:t>
            </a:r>
            <a:r>
              <a:rPr sz="1400" b="1" spc="-10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 err="1" smtClean="0">
                <a:solidFill>
                  <a:srgbClr val="171616"/>
                </a:solidFill>
                <a:latin typeface="Arial"/>
                <a:cs typeface="Arial"/>
              </a:rPr>
              <a:t>тесно</a:t>
            </a:r>
            <a:r>
              <a:rPr sz="1400" b="1" spc="-45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spc="-10" dirty="0" err="1" smtClean="0">
                <a:solidFill>
                  <a:srgbClr val="171616"/>
                </a:solidFill>
                <a:latin typeface="Arial"/>
                <a:cs typeface="Arial"/>
              </a:rPr>
              <a:t>взаимодействующих</a:t>
            </a:r>
            <a:r>
              <a:rPr sz="1400" b="1" spc="-15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spc="-50" dirty="0" smtClean="0">
                <a:solidFill>
                  <a:srgbClr val="171616"/>
                </a:solidFill>
                <a:latin typeface="Arial"/>
                <a:cs typeface="Arial"/>
              </a:rPr>
              <a:t>с </a:t>
            </a:r>
            <a:r>
              <a:rPr sz="1400" b="1" spc="-10" dirty="0" err="1" smtClean="0">
                <a:solidFill>
                  <a:srgbClr val="171616"/>
                </a:solidFill>
                <a:latin typeface="Arial"/>
                <a:cs typeface="Arial"/>
              </a:rPr>
              <a:t>университетом</a:t>
            </a:r>
            <a:r>
              <a:rPr sz="1400" b="1" spc="-10" dirty="0" smtClean="0">
                <a:solidFill>
                  <a:srgbClr val="171616"/>
                </a:solidFill>
                <a:latin typeface="Arial"/>
                <a:cs typeface="Arial"/>
              </a:rPr>
              <a:t>,</a:t>
            </a:r>
            <a:r>
              <a:rPr sz="1400" b="1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616"/>
                </a:solidFill>
                <a:latin typeface="Arial"/>
                <a:cs typeface="Arial"/>
              </a:rPr>
              <a:t>рост</a:t>
            </a:r>
            <a:r>
              <a:rPr sz="1400" b="1" spc="-4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71616"/>
                </a:solidFill>
                <a:latin typeface="Arial"/>
                <a:cs typeface="Arial"/>
              </a:rPr>
              <a:t>лояльности</a:t>
            </a:r>
            <a:r>
              <a:rPr sz="1400" b="1" spc="-2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71616"/>
                </a:solidFill>
                <a:latin typeface="Arial"/>
                <a:cs typeface="Arial"/>
              </a:rPr>
              <a:t>к</a:t>
            </a:r>
            <a:r>
              <a:rPr sz="1400" b="1" spc="-4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71616"/>
                </a:solidFill>
                <a:latin typeface="Arial"/>
                <a:cs typeface="Arial"/>
              </a:rPr>
              <a:t>бренду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7322" y="4041663"/>
            <a:ext cx="8321239" cy="17870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ru-RU" sz="1600" dirty="0">
              <a:latin typeface="Gilroy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dirty="0" smtClean="0">
                <a:latin typeface="Gilroy"/>
                <a:cs typeface="Microsoft Sans Serif"/>
              </a:rPr>
              <a:t>Скидка предоставляется при заключении договора и внесения минимальной оплаты за обучение до 31.08.2026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ru-RU" sz="1600" dirty="0">
              <a:latin typeface="Gilroy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1600" dirty="0" smtClean="0">
                <a:latin typeface="Gilroy"/>
                <a:cs typeface="Microsoft Sans Serif"/>
              </a:rPr>
              <a:t>Возврат средств осуществляется в заявительном порядке после выхода приказов о зачислении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600" dirty="0">
              <a:latin typeface="Gilroy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0" y="6077699"/>
            <a:ext cx="9580245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9815" algn="l"/>
                <a:tab pos="9566910" algn="l"/>
              </a:tabLst>
            </a:pPr>
            <a:r>
              <a:rPr sz="1000" u="heavy" dirty="0">
                <a:solidFill>
                  <a:srgbClr val="171616"/>
                </a:solidFill>
                <a:uFill>
                  <a:solidFill>
                    <a:srgbClr val="E61E46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000" u="heavy" dirty="0">
                <a:solidFill>
                  <a:srgbClr val="171616"/>
                </a:solidFill>
                <a:uFill>
                  <a:solidFill>
                    <a:srgbClr val="E61E46"/>
                  </a:solidFill>
                </a:uFill>
                <a:latin typeface="Microsoft Sans Serif"/>
                <a:cs typeface="Microsoft Sans Serif"/>
              </a:rPr>
              <a:t>	</a:t>
            </a:r>
            <a:endParaRPr sz="100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8431" y="1869910"/>
            <a:ext cx="793130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171616"/>
                </a:solidFill>
                <a:latin typeface="Arial"/>
                <a:cs typeface="Arial"/>
              </a:rPr>
              <a:t>3.1</a:t>
            </a:r>
            <a:r>
              <a:rPr sz="1800" b="1" spc="-20" dirty="0" smtClean="0">
                <a:solidFill>
                  <a:srgbClr val="171616"/>
                </a:solidFill>
                <a:latin typeface="Arial"/>
                <a:cs typeface="Arial"/>
              </a:rPr>
              <a:t>.</a:t>
            </a:r>
            <a:r>
              <a:rPr lang="ru-RU" sz="1800" b="1" spc="-20" dirty="0" smtClean="0">
                <a:solidFill>
                  <a:srgbClr val="171616"/>
                </a:solidFill>
                <a:latin typeface="Arial"/>
                <a:cs typeface="Arial"/>
              </a:rPr>
              <a:t> Реферальная программа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2" name="object 14"/>
          <p:cNvSpPr txBox="1"/>
          <p:nvPr/>
        </p:nvSpPr>
        <p:spPr>
          <a:xfrm>
            <a:off x="1147322" y="2589488"/>
            <a:ext cx="7387078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ru-RU" sz="2000" spc="-2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Дополнительно </a:t>
            </a:r>
            <a:r>
              <a:rPr lang="ru-RU" sz="2000" spc="-20" smtClean="0">
                <a:solidFill>
                  <a:srgbClr val="E61E46"/>
                </a:solidFill>
                <a:latin typeface="Microsoft Sans Serif"/>
                <a:cs typeface="Microsoft Sans Serif"/>
              </a:rPr>
              <a:t>+1% скидки к текущей системе лояльности </a:t>
            </a:r>
            <a:r>
              <a:rPr lang="ru-RU" sz="2000" spc="-2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абитуриентам, рекомендовавшим поступить в Московский Политех своему другу. Программа действует при оформлении заявки на сайте и применяется единоразово (не более 1 друга)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31697" y="2401198"/>
            <a:ext cx="8748548" cy="3186028"/>
          </a:xfrm>
          <a:prstGeom prst="rect">
            <a:avLst/>
          </a:prstGeom>
          <a:noFill/>
          <a:ln>
            <a:solidFill>
              <a:srgbClr val="E61E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1972" y="1676400"/>
            <a:ext cx="10113645" cy="41620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3.2.</a:t>
            </a:r>
            <a:r>
              <a:rPr sz="1600" b="1" spc="-4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dirty="0" smtClean="0">
                <a:solidFill>
                  <a:srgbClr val="171616"/>
                </a:solidFill>
                <a:latin typeface="Arial"/>
                <a:cs typeface="Arial"/>
              </a:rPr>
              <a:t>С</a:t>
            </a:r>
            <a:r>
              <a:rPr lang="ru-RU" sz="1600" b="1" dirty="0" err="1" smtClean="0">
                <a:solidFill>
                  <a:srgbClr val="171616"/>
                </a:solidFill>
                <a:latin typeface="Arial"/>
                <a:cs typeface="Arial"/>
              </a:rPr>
              <a:t>лушателям</a:t>
            </a:r>
            <a:r>
              <a:rPr lang="ru-RU" sz="1600" b="1" dirty="0" smtClean="0">
                <a:solidFill>
                  <a:srgbClr val="171616"/>
                </a:solidFill>
                <a:latin typeface="Arial"/>
                <a:cs typeface="Arial"/>
              </a:rPr>
              <a:t>, студентам</a:t>
            </a:r>
            <a:r>
              <a:rPr sz="1600" b="1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и</a:t>
            </a:r>
            <a:r>
              <a:rPr sz="1600" b="1" spc="-4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spc="-10" dirty="0" err="1">
                <a:solidFill>
                  <a:srgbClr val="171616"/>
                </a:solidFill>
                <a:latin typeface="Arial"/>
                <a:cs typeface="Arial"/>
              </a:rPr>
              <a:t>выпускникам</a:t>
            </a: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dirty="0" smtClean="0">
                <a:solidFill>
                  <a:srgbClr val="171616"/>
                </a:solidFill>
                <a:latin typeface="Arial"/>
                <a:cs typeface="Arial"/>
              </a:rPr>
              <a:t>1</a:t>
            </a:r>
            <a:r>
              <a:rPr lang="ru-RU" sz="1600" b="1" dirty="0">
                <a:solidFill>
                  <a:srgbClr val="171616"/>
                </a:solidFill>
                <a:latin typeface="Arial"/>
                <a:cs typeface="Arial"/>
              </a:rPr>
              <a:t>5</a:t>
            </a:r>
            <a:r>
              <a:rPr sz="1600" b="1" dirty="0" smtClean="0">
                <a:solidFill>
                  <a:srgbClr val="171616"/>
                </a:solidFill>
                <a:latin typeface="Arial"/>
                <a:cs typeface="Arial"/>
              </a:rPr>
              <a:t>%</a:t>
            </a:r>
            <a:r>
              <a:rPr sz="1600" b="1" spc="-45" dirty="0" smtClean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71616"/>
                </a:solidFill>
                <a:latin typeface="Arial"/>
                <a:cs typeface="Arial"/>
              </a:rPr>
              <a:t>скидка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89"/>
              </a:spcBef>
            </a:pPr>
            <a:endParaRPr sz="1600" dirty="0">
              <a:latin typeface="Arial"/>
              <a:cs typeface="Arial"/>
            </a:endParaRPr>
          </a:p>
          <a:p>
            <a:pPr marL="641985" indent="-364490">
              <a:lnSpc>
                <a:spcPct val="100000"/>
              </a:lnSpc>
              <a:buChar char="•"/>
              <a:tabLst>
                <a:tab pos="641985" algn="l"/>
              </a:tabLst>
            </a:pPr>
            <a:r>
              <a:rPr lang="ru-RU" sz="16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Партнерских </a:t>
            </a:r>
            <a:r>
              <a:rPr sz="160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школ</a:t>
            </a:r>
            <a:r>
              <a:rPr sz="1600" spc="-65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25" dirty="0" err="1">
                <a:solidFill>
                  <a:srgbClr val="171616"/>
                </a:solidFill>
                <a:latin typeface="Microsoft Sans Serif"/>
                <a:cs typeface="Microsoft Sans Serif"/>
              </a:rPr>
              <a:t>Московского</a:t>
            </a:r>
            <a:r>
              <a:rPr sz="1600" spc="-5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Политеха</a:t>
            </a:r>
            <a:r>
              <a:rPr lang="ru-RU" sz="16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работающих по предпрофессиональным классам</a:t>
            </a:r>
            <a:r>
              <a:rPr sz="1600" spc="-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(</a:t>
            </a:r>
            <a:r>
              <a:rPr sz="1600" spc="-1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инженерны</a:t>
            </a:r>
            <a:r>
              <a:rPr lang="ru-RU" sz="16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й</a:t>
            </a:r>
            <a:r>
              <a:rPr sz="16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,</a:t>
            </a:r>
            <a:r>
              <a:rPr sz="1600" spc="-2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4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ИТ,</a:t>
            </a:r>
            <a:r>
              <a:rPr lang="ru-RU" sz="1600" spc="-4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предпринимательский, академический, медиа)</a:t>
            </a:r>
            <a:r>
              <a:rPr sz="1600" spc="-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endParaRPr lang="ru-RU" sz="1600" spc="-6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641985" indent="-364490">
              <a:lnSpc>
                <a:spcPct val="100000"/>
              </a:lnSpc>
              <a:buChar char="•"/>
              <a:tabLst>
                <a:tab pos="641985" algn="l"/>
              </a:tabLst>
            </a:pPr>
            <a:r>
              <a:rPr lang="ru-RU" sz="1600" spc="-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Слушатели центра </a:t>
            </a:r>
            <a:r>
              <a:rPr lang="ru-RU" sz="1600" spc="-6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довузовского</a:t>
            </a:r>
            <a:r>
              <a:rPr lang="ru-RU" sz="1600" spc="-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образования и подготовки к ЕГЭ</a:t>
            </a:r>
          </a:p>
          <a:p>
            <a:pPr marL="641985" indent="-364490">
              <a:lnSpc>
                <a:spcPct val="100000"/>
              </a:lnSpc>
              <a:buChar char="•"/>
              <a:tabLst>
                <a:tab pos="641985" algn="l"/>
              </a:tabLst>
            </a:pPr>
            <a:r>
              <a:rPr lang="ru-RU" sz="1600" spc="-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Слушатели </a:t>
            </a:r>
            <a:r>
              <a:rPr sz="1600" spc="-1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курсов</a:t>
            </a:r>
            <a:r>
              <a:rPr lang="ru-RU" sz="16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Художественной школы «Полиграф»</a:t>
            </a:r>
            <a:endParaRPr sz="1600" dirty="0">
              <a:latin typeface="Microsoft Sans Serif"/>
              <a:cs typeface="Microsoft Sans Serif"/>
            </a:endParaRPr>
          </a:p>
          <a:p>
            <a:pPr marL="641985" indent="-364490">
              <a:lnSpc>
                <a:spcPct val="100000"/>
              </a:lnSpc>
              <a:spcBef>
                <a:spcPts val="815"/>
              </a:spcBef>
              <a:buChar char="•"/>
              <a:tabLst>
                <a:tab pos="641985" algn="l"/>
              </a:tabLst>
            </a:pPr>
            <a:r>
              <a:rPr lang="ru-RU" sz="16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Выпускники </a:t>
            </a:r>
            <a:r>
              <a:rPr lang="ru-RU" sz="160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бакалавриата</a:t>
            </a:r>
            <a:r>
              <a:rPr lang="ru-RU" sz="16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, </a:t>
            </a:r>
            <a:r>
              <a:rPr lang="ru-RU" sz="160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специалитета</a:t>
            </a:r>
            <a:r>
              <a:rPr lang="ru-RU" sz="16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и магистратуры Московского </a:t>
            </a:r>
            <a:r>
              <a:rPr lang="ru-RU" sz="1600" dirty="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Политеха</a:t>
            </a:r>
            <a:endParaRPr sz="1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14"/>
              </a:spcBef>
            </a:pPr>
            <a:endParaRPr sz="1600" dirty="0">
              <a:latin typeface="Microsoft Sans Serif"/>
              <a:cs typeface="Microsoft Sans Serif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3.3.</a:t>
            </a:r>
            <a:r>
              <a:rPr sz="1600" b="1" spc="-10" dirty="0">
                <a:solidFill>
                  <a:srgbClr val="171616"/>
                </a:solidFill>
                <a:latin typeface="Arial"/>
                <a:cs typeface="Arial"/>
              </a:rPr>
              <a:t> Работникам</a:t>
            </a:r>
            <a:r>
              <a:rPr sz="1600" b="1" spc="2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71616"/>
                </a:solidFill>
                <a:latin typeface="Arial"/>
                <a:cs typeface="Arial"/>
              </a:rPr>
              <a:t>организаций-</a:t>
            </a:r>
            <a:r>
              <a:rPr sz="1600" b="1" spc="-10" dirty="0">
                <a:solidFill>
                  <a:srgbClr val="171616"/>
                </a:solidFill>
                <a:latin typeface="Arial"/>
                <a:cs typeface="Arial"/>
              </a:rPr>
              <a:t>партнеров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:</a:t>
            </a:r>
            <a:endParaRPr sz="1600" dirty="0">
              <a:latin typeface="Microsoft Sans Serif"/>
              <a:cs typeface="Microsoft Sans Serif"/>
            </a:endParaRPr>
          </a:p>
          <a:p>
            <a:pPr marL="551815" indent="-272415">
              <a:lnSpc>
                <a:spcPct val="100000"/>
              </a:lnSpc>
              <a:spcBef>
                <a:spcPts val="815"/>
              </a:spcBef>
              <a:buFont typeface="Microsoft Sans Serif"/>
              <a:buChar char="•"/>
              <a:tabLst>
                <a:tab pos="551815" algn="l"/>
              </a:tabLst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10</a:t>
            </a:r>
            <a:r>
              <a:rPr sz="16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600" spc="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655" dirty="0">
                <a:solidFill>
                  <a:srgbClr val="171616"/>
                </a:solidFill>
                <a:latin typeface="Microsoft Sans Serif"/>
                <a:cs typeface="Microsoft Sans Serif"/>
              </a:rPr>
              <a:t>—</a:t>
            </a:r>
            <a:r>
              <a:rPr sz="1600" spc="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130" dirty="0">
                <a:solidFill>
                  <a:srgbClr val="171616"/>
                </a:solidFill>
                <a:latin typeface="Microsoft Sans Serif"/>
                <a:cs typeface="Microsoft Sans Serif"/>
              </a:rPr>
              <a:t>5–9</a:t>
            </a:r>
            <a:r>
              <a:rPr sz="1600" spc="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работников</a:t>
            </a:r>
            <a:endParaRPr sz="1600" dirty="0">
              <a:latin typeface="Microsoft Sans Serif"/>
              <a:cs typeface="Microsoft Sans Serif"/>
            </a:endParaRPr>
          </a:p>
          <a:p>
            <a:pPr marL="551815" indent="-272415">
              <a:lnSpc>
                <a:spcPct val="100000"/>
              </a:lnSpc>
              <a:spcBef>
                <a:spcPts val="805"/>
              </a:spcBef>
              <a:buFont typeface="Microsoft Sans Serif"/>
              <a:buChar char="•"/>
              <a:tabLst>
                <a:tab pos="551815" algn="l"/>
              </a:tabLst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15</a:t>
            </a:r>
            <a:r>
              <a:rPr sz="16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600" spc="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655" dirty="0">
                <a:solidFill>
                  <a:srgbClr val="171616"/>
                </a:solidFill>
                <a:latin typeface="Microsoft Sans Serif"/>
                <a:cs typeface="Microsoft Sans Serif"/>
              </a:rPr>
              <a:t>—</a:t>
            </a:r>
            <a:r>
              <a:rPr sz="1600" spc="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171616"/>
                </a:solidFill>
                <a:latin typeface="Microsoft Sans Serif"/>
                <a:cs typeface="Microsoft Sans Serif"/>
              </a:rPr>
              <a:t>10–14</a:t>
            </a:r>
            <a:r>
              <a:rPr sz="1600" spc="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работников</a:t>
            </a:r>
            <a:endParaRPr sz="1600" dirty="0">
              <a:latin typeface="Microsoft Sans Serif"/>
              <a:cs typeface="Microsoft Sans Serif"/>
            </a:endParaRPr>
          </a:p>
          <a:p>
            <a:pPr marL="551815" indent="-272415">
              <a:lnSpc>
                <a:spcPct val="100000"/>
              </a:lnSpc>
              <a:spcBef>
                <a:spcPts val="805"/>
              </a:spcBef>
              <a:buFont typeface="Microsoft Sans Serif"/>
              <a:buChar char="•"/>
              <a:tabLst>
                <a:tab pos="551815" algn="l"/>
              </a:tabLst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20</a:t>
            </a:r>
            <a:r>
              <a:rPr sz="16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600" spc="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655" dirty="0">
                <a:solidFill>
                  <a:srgbClr val="171616"/>
                </a:solidFill>
                <a:latin typeface="Microsoft Sans Serif"/>
                <a:cs typeface="Microsoft Sans Serif"/>
              </a:rPr>
              <a:t>—</a:t>
            </a:r>
            <a:r>
              <a:rPr sz="1600" spc="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75" dirty="0">
                <a:solidFill>
                  <a:srgbClr val="171616"/>
                </a:solidFill>
                <a:latin typeface="Microsoft Sans Serif"/>
                <a:cs typeface="Microsoft Sans Serif"/>
              </a:rPr>
              <a:t>15–19</a:t>
            </a:r>
            <a:r>
              <a:rPr sz="1600" spc="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работников</a:t>
            </a:r>
            <a:endParaRPr sz="1600" dirty="0">
              <a:latin typeface="Microsoft Sans Serif"/>
              <a:cs typeface="Microsoft Sans Serif"/>
            </a:endParaRPr>
          </a:p>
          <a:p>
            <a:pPr marL="551815" indent="-272415">
              <a:lnSpc>
                <a:spcPct val="100000"/>
              </a:lnSpc>
              <a:spcBef>
                <a:spcPts val="815"/>
              </a:spcBef>
              <a:buFont typeface="Microsoft Sans Serif"/>
              <a:buChar char="•"/>
              <a:tabLst>
                <a:tab pos="551815" algn="l"/>
              </a:tabLst>
            </a:pPr>
            <a:r>
              <a:rPr sz="1600" b="1" dirty="0">
                <a:solidFill>
                  <a:srgbClr val="171616"/>
                </a:solidFill>
                <a:latin typeface="Arial"/>
                <a:cs typeface="Arial"/>
              </a:rPr>
              <a:t>25</a:t>
            </a:r>
            <a:r>
              <a:rPr sz="16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600" spc="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655" dirty="0">
                <a:solidFill>
                  <a:srgbClr val="171616"/>
                </a:solidFill>
                <a:latin typeface="Microsoft Sans Serif"/>
                <a:cs typeface="Microsoft Sans Serif"/>
              </a:rPr>
              <a:t>—</a:t>
            </a:r>
            <a:r>
              <a:rPr sz="1600" spc="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dirty="0">
                <a:solidFill>
                  <a:srgbClr val="171616"/>
                </a:solidFill>
                <a:latin typeface="Microsoft Sans Serif"/>
                <a:cs typeface="Microsoft Sans Serif"/>
              </a:rPr>
              <a:t>20+</a:t>
            </a:r>
            <a:r>
              <a:rPr sz="1600" spc="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работников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17277" y="5463336"/>
            <a:ext cx="70358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600" spc="-50" dirty="0" smtClean="0">
                <a:solidFill>
                  <a:srgbClr val="D0CECE"/>
                </a:solidFill>
                <a:latin typeface="Microsoft Sans Serif"/>
                <a:cs typeface="Microsoft Sans Serif"/>
              </a:rPr>
              <a:t>7</a:t>
            </a:r>
            <a:endParaRPr sz="9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933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5"/>
              </a:spcBef>
            </a:pPr>
            <a:r>
              <a:rPr dirty="0"/>
              <a:t>3.</a:t>
            </a:r>
            <a:r>
              <a:rPr spc="-35" dirty="0"/>
              <a:t> Комьюнити-</a:t>
            </a:r>
            <a:r>
              <a:rPr dirty="0"/>
              <a:t>скидки</a:t>
            </a:r>
            <a:r>
              <a:rPr spc="20" dirty="0"/>
              <a:t> </a:t>
            </a:r>
            <a:r>
              <a:rPr spc="-10" dirty="0"/>
              <a:t>(продолжение)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146525"/>
            <a:ext cx="10439400" cy="4864793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735"/>
              </a:spcBef>
            </a:pP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>4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.1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.</a:t>
            </a:r>
            <a:r>
              <a:rPr sz="1500" b="1" spc="-9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Социальные</a:t>
            </a:r>
            <a:r>
              <a:rPr sz="1500" b="1" spc="-8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категории</a:t>
            </a:r>
            <a:r>
              <a:rPr sz="1500" b="1" spc="-5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(инвалиды,</a:t>
            </a:r>
            <a:r>
              <a:rPr sz="1500" b="1" spc="-10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сироты,</a:t>
            </a:r>
            <a:r>
              <a:rPr sz="1500" b="1" spc="-7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ЧАЭС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,</a:t>
            </a:r>
            <a:r>
              <a:rPr sz="15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получающие</a:t>
            </a:r>
            <a:r>
              <a:rPr sz="1500" b="1" spc="-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гос.соц.помощь)*:</a:t>
            </a:r>
            <a:endParaRPr sz="1500" dirty="0">
              <a:latin typeface="Arial"/>
              <a:cs typeface="Arial"/>
            </a:endParaRPr>
          </a:p>
          <a:p>
            <a:pPr marL="193675" marR="4551045" lvl="4">
              <a:lnSpc>
                <a:spcPts val="2440"/>
              </a:lnSpc>
              <a:spcBef>
                <a:spcPts val="185"/>
              </a:spcBef>
            </a:pP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10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поступающих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на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1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курс</a:t>
            </a:r>
            <a:r>
              <a:rPr sz="1500" spc="-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и</a:t>
            </a:r>
            <a:r>
              <a:rPr sz="1500" spc="-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err="1" smtClean="0">
                <a:solidFill>
                  <a:srgbClr val="171616"/>
                </a:solidFill>
                <a:latin typeface="Microsoft Sans Serif"/>
                <a:cs typeface="Microsoft Sans Serif"/>
              </a:rPr>
              <a:t>обучающиеся</a:t>
            </a:r>
            <a:r>
              <a:rPr sz="1500" spc="-15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на</a:t>
            </a:r>
            <a:r>
              <a:rPr lang="ru-RU" sz="1500" spc="-15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lang="ru-RU" sz="1500" spc="-15" smtClean="0">
                <a:solidFill>
                  <a:srgbClr val="171616"/>
                </a:solidFill>
                <a:latin typeface="Microsoft Sans Serif"/>
                <a:cs typeface="Microsoft Sans Serif"/>
              </a:rPr>
              <a:t>2-3 курсах</a:t>
            </a:r>
            <a:r>
              <a:rPr sz="1500" spc="-10" smtClean="0">
                <a:solidFill>
                  <a:srgbClr val="171616"/>
                </a:solidFill>
                <a:latin typeface="Microsoft Sans Serif"/>
                <a:cs typeface="Microsoft Sans Serif"/>
              </a:rPr>
              <a:t>; </a:t>
            </a:r>
            <a:endParaRPr lang="ru-RU" sz="1500" spc="-1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93675" marR="4551045">
              <a:lnSpc>
                <a:spcPts val="2440"/>
              </a:lnSpc>
              <a:spcBef>
                <a:spcPts val="185"/>
              </a:spcBef>
            </a:pPr>
            <a:r>
              <a:rPr sz="15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20</a:t>
            </a:r>
            <a:r>
              <a:rPr sz="15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 для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>
                <a:solidFill>
                  <a:srgbClr val="171616"/>
                </a:solidFill>
                <a:latin typeface="Microsoft Sans Serif"/>
                <a:cs typeface="Microsoft Sans Serif"/>
              </a:rPr>
              <a:t>обучающихся</a:t>
            </a:r>
            <a:r>
              <a:rPr sz="1500" spc="2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mtClean="0">
                <a:solidFill>
                  <a:srgbClr val="171616"/>
                </a:solidFill>
                <a:latin typeface="Microsoft Sans Serif"/>
                <a:cs typeface="Microsoft Sans Serif"/>
              </a:rPr>
              <a:t>на</a:t>
            </a:r>
            <a:r>
              <a:rPr lang="ru-RU" sz="1500" spc="-1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lang="ru-RU" sz="1500" spc="-10" smtClean="0">
                <a:solidFill>
                  <a:srgbClr val="171616"/>
                </a:solidFill>
                <a:latin typeface="Microsoft Sans Serif"/>
                <a:cs typeface="Microsoft Sans Serif"/>
              </a:rPr>
              <a:t>4</a:t>
            </a:r>
            <a:r>
              <a:rPr sz="1500" spc="-5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и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старше</a:t>
            </a:r>
            <a:r>
              <a:rPr sz="1500" spc="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 err="1">
                <a:solidFill>
                  <a:srgbClr val="171616"/>
                </a:solidFill>
                <a:latin typeface="Microsoft Sans Serif"/>
                <a:cs typeface="Microsoft Sans Serif"/>
              </a:rPr>
              <a:t>курсах</a:t>
            </a:r>
            <a:r>
              <a:rPr sz="15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.</a:t>
            </a:r>
            <a:endParaRPr lang="ru-RU" sz="1500" spc="-1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93675" marR="4551045">
              <a:lnSpc>
                <a:spcPts val="2440"/>
              </a:lnSpc>
              <a:spcBef>
                <a:spcPts val="185"/>
              </a:spcBef>
            </a:pPr>
            <a:endParaRPr sz="1500" dirty="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455"/>
              </a:spcBef>
            </a:pP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>4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.2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.</a:t>
            </a:r>
            <a:r>
              <a:rPr sz="1500" b="1" spc="-5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Для</a:t>
            </a:r>
            <a:r>
              <a:rPr sz="1500" b="1" spc="-4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работников</a:t>
            </a:r>
            <a:r>
              <a:rPr sz="1500" b="1" spc="-3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и</a:t>
            </a:r>
            <a:r>
              <a:rPr sz="15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детей</a:t>
            </a:r>
            <a:r>
              <a:rPr sz="1500" b="1" spc="1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работников*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:</a:t>
            </a:r>
            <a:endParaRPr sz="1500" dirty="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10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всех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курсов;</a:t>
            </a:r>
            <a:endParaRPr sz="1500" dirty="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40"/>
              </a:spcBef>
            </a:pP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20</a:t>
            </a:r>
            <a:r>
              <a:rPr sz="1500" spc="-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-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всех</a:t>
            </a:r>
            <a:r>
              <a:rPr sz="1500" spc="-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курсов</a:t>
            </a:r>
            <a:r>
              <a:rPr sz="1500" spc="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при</a:t>
            </a:r>
            <a:r>
              <a:rPr sz="1500" spc="-3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условии</a:t>
            </a:r>
            <a:r>
              <a:rPr sz="1500" spc="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получения </a:t>
            </a:r>
            <a:r>
              <a:rPr sz="1500" spc="-20" dirty="0">
                <a:solidFill>
                  <a:srgbClr val="171616"/>
                </a:solidFill>
                <a:latin typeface="Microsoft Sans Serif"/>
                <a:cs typeface="Microsoft Sans Serif"/>
              </a:rPr>
              <a:t>государственной</a:t>
            </a:r>
            <a:r>
              <a:rPr sz="1500" spc="-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социальной</a:t>
            </a:r>
            <a:r>
              <a:rPr sz="1500" spc="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 err="1">
                <a:solidFill>
                  <a:srgbClr val="171616"/>
                </a:solidFill>
                <a:latin typeface="Microsoft Sans Serif"/>
                <a:cs typeface="Microsoft Sans Serif"/>
              </a:rPr>
              <a:t>помощи</a:t>
            </a:r>
            <a:r>
              <a:rPr sz="15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.</a:t>
            </a:r>
            <a:endParaRPr lang="ru-RU" sz="1500" spc="-1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40"/>
              </a:spcBef>
            </a:pPr>
            <a:endParaRPr sz="1500" dirty="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50"/>
              </a:spcBef>
            </a:pP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>4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.3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.</a:t>
            </a:r>
            <a:r>
              <a:rPr sz="1500" b="1" spc="-7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Ветераны</a:t>
            </a:r>
            <a:r>
              <a:rPr sz="1500" b="1" spc="-4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боевых</a:t>
            </a:r>
            <a:r>
              <a:rPr sz="1500" b="1" spc="-5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действий,</a:t>
            </a:r>
            <a:r>
              <a:rPr sz="15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участники</a:t>
            </a:r>
            <a:r>
              <a:rPr sz="1500" b="1" spc="-1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СВО</a:t>
            </a:r>
            <a:r>
              <a:rPr sz="1500" b="1" spc="-5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и</a:t>
            </a:r>
            <a:r>
              <a:rPr sz="1500" b="1" spc="-5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их</a:t>
            </a:r>
            <a:r>
              <a:rPr sz="1500" b="1" spc="-20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дети*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:</a:t>
            </a:r>
            <a:endParaRPr sz="1500" dirty="0"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35"/>
              </a:spcBef>
            </a:pP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20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всех</a:t>
            </a:r>
            <a:r>
              <a:rPr sz="1500" spc="-1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 err="1">
                <a:solidFill>
                  <a:srgbClr val="171616"/>
                </a:solidFill>
                <a:latin typeface="Microsoft Sans Serif"/>
                <a:cs typeface="Microsoft Sans Serif"/>
              </a:rPr>
              <a:t>курсов</a:t>
            </a:r>
            <a:r>
              <a:rPr sz="1500" spc="-1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.</a:t>
            </a:r>
            <a:endParaRPr lang="ru-RU" sz="1500" spc="-1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93675">
              <a:lnSpc>
                <a:spcPct val="100000"/>
              </a:lnSpc>
              <a:spcBef>
                <a:spcPts val="635"/>
              </a:spcBef>
            </a:pPr>
            <a:endParaRPr sz="1500" dirty="0">
              <a:latin typeface="Microsoft Sans Serif"/>
              <a:cs typeface="Microsoft Sans Serif"/>
            </a:endParaRPr>
          </a:p>
          <a:p>
            <a:pPr marL="193675" marR="1498600">
              <a:lnSpc>
                <a:spcPts val="2450"/>
              </a:lnSpc>
              <a:spcBef>
                <a:spcPts val="175"/>
              </a:spcBef>
            </a:pPr>
            <a:r>
              <a:rPr lang="ru-RU" sz="1500" b="1" dirty="0" smtClean="0">
                <a:solidFill>
                  <a:srgbClr val="171616"/>
                </a:solidFill>
                <a:latin typeface="Arial"/>
                <a:cs typeface="Arial"/>
              </a:rPr>
              <a:t>4</a:t>
            </a:r>
            <a:r>
              <a:rPr sz="1500" b="1" dirty="0" smtClean="0">
                <a:solidFill>
                  <a:srgbClr val="171616"/>
                </a:solidFill>
                <a:latin typeface="Arial"/>
                <a:cs typeface="Arial"/>
              </a:rPr>
              <a:t>.4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.</a:t>
            </a:r>
            <a:r>
              <a:rPr sz="1500" b="1" spc="-8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Вынужденно</a:t>
            </a:r>
            <a:r>
              <a:rPr sz="1500" b="1" spc="-7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покинувшие</a:t>
            </a:r>
            <a:r>
              <a:rPr sz="1500" b="1" spc="-3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территории</a:t>
            </a:r>
            <a:r>
              <a:rPr sz="1500" b="1" spc="-1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Белгородской,</a:t>
            </a:r>
            <a:r>
              <a:rPr sz="1500" b="1" spc="-7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Брянской</a:t>
            </a:r>
            <a:r>
              <a:rPr sz="1500" b="1" spc="-8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и</a:t>
            </a:r>
            <a:r>
              <a:rPr sz="1500" b="1" spc="-75" dirty="0">
                <a:solidFill>
                  <a:srgbClr val="171616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71616"/>
                </a:solidFill>
                <a:latin typeface="Arial"/>
                <a:cs typeface="Arial"/>
              </a:rPr>
              <a:t>Курской </a:t>
            </a:r>
            <a:r>
              <a:rPr sz="1500" b="1" spc="-10" dirty="0">
                <a:solidFill>
                  <a:srgbClr val="171616"/>
                </a:solidFill>
                <a:latin typeface="Arial"/>
                <a:cs typeface="Arial"/>
              </a:rPr>
              <a:t>областей*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: </a:t>
            </a:r>
            <a:endParaRPr lang="ru-RU" sz="1500" spc="-1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93675" marR="1498600">
              <a:lnSpc>
                <a:spcPts val="2450"/>
              </a:lnSpc>
              <a:spcBef>
                <a:spcPts val="175"/>
              </a:spcBef>
            </a:pPr>
            <a:r>
              <a:rPr sz="15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100</a:t>
            </a:r>
            <a:r>
              <a:rPr sz="1500" spc="-3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%</a:t>
            </a:r>
            <a:r>
              <a:rPr sz="1500" spc="-2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-3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всех</a:t>
            </a:r>
            <a:r>
              <a:rPr sz="1500" spc="-2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курсов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</a:t>
            </a:r>
            <a:r>
              <a:rPr sz="1500" spc="-2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оформлением</a:t>
            </a:r>
            <a:r>
              <a:rPr sz="1500" spc="-2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раз</a:t>
            </a:r>
            <a:r>
              <a:rPr sz="1500" spc="-3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</a:t>
            </a:r>
            <a:r>
              <a:rPr sz="1500" spc="-2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семестр.</a:t>
            </a:r>
            <a:endParaRPr sz="1500" dirty="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ts val="1440"/>
              </a:lnSpc>
            </a:pPr>
            <a:endParaRPr lang="ru-RU" sz="1500" dirty="0" smtClean="0">
              <a:solidFill>
                <a:srgbClr val="171616"/>
              </a:solidFill>
              <a:latin typeface="Microsoft Sans Serif"/>
              <a:cs typeface="Microsoft Sans Serif"/>
            </a:endParaRPr>
          </a:p>
          <a:p>
            <a:pPr marL="12700" marR="5080" algn="just">
              <a:lnSpc>
                <a:spcPts val="1440"/>
              </a:lnSpc>
            </a:pPr>
            <a:r>
              <a:rPr sz="150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*</a:t>
            </a:r>
            <a:r>
              <a:rPr sz="1500" spc="60" dirty="0" smtClean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Для</a:t>
            </a:r>
            <a:r>
              <a:rPr sz="1500" spc="6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второго</a:t>
            </a:r>
            <a:r>
              <a:rPr sz="1500" spc="5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и</a:t>
            </a:r>
            <a:r>
              <a:rPr sz="1500" spc="5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старших</a:t>
            </a:r>
            <a:r>
              <a:rPr sz="1500" spc="4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курсов</a:t>
            </a:r>
            <a:r>
              <a:rPr sz="1500" spc="6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скидка</a:t>
            </a:r>
            <a:r>
              <a:rPr sz="1500" spc="6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предоставляется</a:t>
            </a:r>
            <a:r>
              <a:rPr sz="1500" spc="6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при</a:t>
            </a:r>
            <a:r>
              <a:rPr sz="1500" spc="6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условии</a:t>
            </a:r>
            <a:r>
              <a:rPr sz="1500" spc="7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отсутствия</a:t>
            </a:r>
            <a:r>
              <a:rPr sz="1500" spc="7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оценок</a:t>
            </a:r>
            <a:r>
              <a:rPr sz="1500" spc="6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«Удовлетворительно»,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академических</a:t>
            </a:r>
            <a:r>
              <a:rPr sz="1500" spc="90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задолженностей</a:t>
            </a:r>
            <a:r>
              <a:rPr sz="1500" spc="90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за</a:t>
            </a:r>
            <a:r>
              <a:rPr sz="1500" spc="90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две</a:t>
            </a:r>
            <a:r>
              <a:rPr sz="1500" spc="95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последние</a:t>
            </a:r>
            <a:r>
              <a:rPr sz="1500" spc="95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промежуточные</a:t>
            </a:r>
            <a:r>
              <a:rPr sz="1500" spc="95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аттестации</a:t>
            </a:r>
            <a:r>
              <a:rPr sz="1500" spc="90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и</a:t>
            </a:r>
            <a:r>
              <a:rPr sz="1500" spc="90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своевременной</a:t>
            </a:r>
            <a:r>
              <a:rPr sz="1500" spc="95" dirty="0">
                <a:solidFill>
                  <a:srgbClr val="171616"/>
                </a:solidFill>
                <a:latin typeface="Microsoft Sans Serif"/>
                <a:cs typeface="Microsoft Sans Serif"/>
              </a:rPr>
              <a:t> 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оплаты обучения</a:t>
            </a:r>
            <a:r>
              <a:rPr sz="1500" spc="-4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за</a:t>
            </a:r>
            <a:r>
              <a:rPr sz="1500" spc="-4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171616"/>
                </a:solidFill>
                <a:latin typeface="Microsoft Sans Serif"/>
                <a:cs typeface="Microsoft Sans Serif"/>
              </a:rPr>
              <a:t>предшествующий</a:t>
            </a:r>
            <a:r>
              <a:rPr sz="1500" spc="-35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171616"/>
                </a:solidFill>
                <a:latin typeface="Microsoft Sans Serif"/>
                <a:cs typeface="Microsoft Sans Serif"/>
              </a:rPr>
              <a:t>учебный</a:t>
            </a:r>
            <a:r>
              <a:rPr sz="1500" spc="-40" dirty="0">
                <a:solidFill>
                  <a:srgbClr val="171616"/>
                </a:solidFill>
                <a:latin typeface="Microsoft Sans Serif"/>
                <a:cs typeface="Microsoft Sans Serif"/>
              </a:rPr>
              <a:t> </a:t>
            </a:r>
            <a:r>
              <a:rPr sz="1500" spc="-20" dirty="0">
                <a:solidFill>
                  <a:srgbClr val="171616"/>
                </a:solidFill>
                <a:latin typeface="Microsoft Sans Serif"/>
                <a:cs typeface="Microsoft Sans Serif"/>
              </a:rPr>
              <a:t>год.</a:t>
            </a:r>
            <a:endParaRPr sz="15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17277" y="5463336"/>
            <a:ext cx="138176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9600" spc="-25" dirty="0" smtClean="0">
                <a:solidFill>
                  <a:srgbClr val="D0CECE"/>
                </a:solidFill>
                <a:latin typeface="Microsoft Sans Serif"/>
                <a:cs typeface="Microsoft Sans Serif"/>
              </a:rPr>
              <a:t>8</a:t>
            </a:r>
            <a:endParaRPr sz="9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309194"/>
            <a:ext cx="8828405" cy="829072"/>
          </a:xfrm>
          <a:prstGeom prst="rect">
            <a:avLst/>
          </a:prstGeom>
        </p:spPr>
        <p:txBody>
          <a:bodyPr vert="horz" wrap="square" lIns="0" tIns="333374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5"/>
              </a:spcBef>
            </a:pPr>
            <a:r>
              <a:rPr lang="ru-RU" dirty="0" smtClean="0"/>
              <a:t>4</a:t>
            </a:r>
            <a:r>
              <a:rPr dirty="0" smtClean="0"/>
              <a:t>.</a:t>
            </a:r>
            <a:r>
              <a:rPr spc="-130" dirty="0" smtClean="0"/>
              <a:t> </a:t>
            </a:r>
            <a:r>
              <a:rPr dirty="0"/>
              <a:t>Скидки</a:t>
            </a:r>
            <a:r>
              <a:rPr spc="-110" dirty="0"/>
              <a:t> </a:t>
            </a:r>
            <a:r>
              <a:rPr dirty="0"/>
              <a:t>для</a:t>
            </a:r>
            <a:r>
              <a:rPr spc="-125" dirty="0"/>
              <a:t> </a:t>
            </a:r>
            <a:r>
              <a:rPr dirty="0"/>
              <a:t>социальных</a:t>
            </a:r>
            <a:r>
              <a:rPr spc="-90" dirty="0"/>
              <a:t> </a:t>
            </a:r>
            <a:r>
              <a:rPr spc="-10" dirty="0"/>
              <a:t>категорий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021329"/>
            <a:ext cx="69729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Courier New"/>
                <a:cs typeface="Courier New"/>
              </a:rPr>
              <a:t>Спасибо</a:t>
            </a:r>
            <a:r>
              <a:rPr sz="4800" b="1" spc="-35" dirty="0">
                <a:latin typeface="Courier New"/>
                <a:cs typeface="Courier New"/>
              </a:rPr>
              <a:t> </a:t>
            </a:r>
            <a:r>
              <a:rPr sz="4800" b="1" dirty="0">
                <a:latin typeface="Courier New"/>
                <a:cs typeface="Courier New"/>
              </a:rPr>
              <a:t>за</a:t>
            </a:r>
            <a:r>
              <a:rPr sz="4800" b="1" spc="-25" dirty="0">
                <a:latin typeface="Courier New"/>
                <a:cs typeface="Courier New"/>
              </a:rPr>
              <a:t> </a:t>
            </a:r>
            <a:r>
              <a:rPr sz="4800" b="1" spc="-10" dirty="0">
                <a:latin typeface="Courier New"/>
                <a:cs typeface="Courier New"/>
              </a:rPr>
              <a:t>внимание</a:t>
            </a:r>
            <a:endParaRPr sz="48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</TotalTime>
  <Words>528</Words>
  <Application>Microsoft Office PowerPoint</Application>
  <PresentationFormat>Широкоэкранный</PresentationFormat>
  <Paragraphs>75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Gilroy</vt:lpstr>
      <vt:lpstr>Microsoft Sans Serif</vt:lpstr>
      <vt:lpstr>Times New Roman</vt:lpstr>
      <vt:lpstr>Office Theme</vt:lpstr>
      <vt:lpstr>Программа лояльности для поступающих на платную договорную основу обучения в 2026/2027 учебный год </vt:lpstr>
      <vt:lpstr>1. Стимулирование предзаказов</vt:lpstr>
      <vt:lpstr>2. Стимулирование высокобалльников и талантливых абитуриентов</vt:lpstr>
      <vt:lpstr>3. Комьюнити-скидки</vt:lpstr>
      <vt:lpstr>3. Комьюнити-скидки (продолжение)</vt:lpstr>
      <vt:lpstr>4. Скидки для социальных категорий</vt:lpstr>
      <vt:lpstr>Спасибо за внимание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лояльности 2025. Проект</dc:title>
  <dc:creator>Марчев Даниил Андреевич;Близорукова Наталия Валерьевна</dc:creator>
  <cp:lastModifiedBy>Start</cp:lastModifiedBy>
  <cp:revision>38</cp:revision>
  <dcterms:created xsi:type="dcterms:W3CDTF">2025-03-25T12:15:25Z</dcterms:created>
  <dcterms:modified xsi:type="dcterms:W3CDTF">2026-06-17T19:45:56Z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2025-03-25T00:00:00Z</vt:filetime>
  </property>
  <property fmtid="{D5CDD505-2E9C-101B-9397-08002B2CF9AE}" pid="5" name="Producer">
    <vt:lpwstr>Microsoft® PowerPoint® 2013</vt:lpwstr>
  </property>
</Properties>
</file>